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Верхний колонтитул 1">
            <a:extLst>
              <a:ext uri="{FF2B5EF4-FFF2-40B4-BE49-F238E27FC236}">
                <a16:creationId xmlns:a16="http://schemas.microsoft.com/office/drawing/2014/main" id="{EC1B4FD4-DC0E-6623-94F6-D9730BC82B7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565529" cy="733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9" name="Дата 2">
            <a:extLst>
              <a:ext uri="{FF2B5EF4-FFF2-40B4-BE49-F238E27FC236}">
                <a16:creationId xmlns:a16="http://schemas.microsoft.com/office/drawing/2014/main" id="{60705E19-D6C9-E4F3-E5E8-2CB50AA61A8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660897" y="0"/>
            <a:ext cx="3567110" cy="733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7047FA0-2586-49AF-B25D-A4EFD67F5433}" type="datetime1">
              <a:rPr lang="ru-RU"/>
              <a:pPr lvl="0"/>
              <a:t>18.02.2026</a:t>
            </a:fld>
            <a:endParaRPr lang="ru-RU"/>
          </a:p>
        </p:txBody>
      </p:sp>
      <p:sp>
        <p:nvSpPr>
          <p:cNvPr id="10" name="Образ слайда 3">
            <a:extLst>
              <a:ext uri="{FF2B5EF4-FFF2-40B4-BE49-F238E27FC236}">
                <a16:creationId xmlns:a16="http://schemas.microsoft.com/office/drawing/2014/main" id="{E136281E-7563-0745-717A-C74A0C78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273048" y="1828800"/>
            <a:ext cx="8775697" cy="493712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11" name="Заметки 4">
            <a:extLst>
              <a:ext uri="{FF2B5EF4-FFF2-40B4-BE49-F238E27FC236}">
                <a16:creationId xmlns:a16="http://schemas.microsoft.com/office/drawing/2014/main" id="{84E69322-7DAF-F424-F651-AFDE936E952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822329" y="7040559"/>
            <a:ext cx="6584951" cy="576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Нижний колонтитул 5">
            <a:extLst>
              <a:ext uri="{FF2B5EF4-FFF2-40B4-BE49-F238E27FC236}">
                <a16:creationId xmlns:a16="http://schemas.microsoft.com/office/drawing/2014/main" id="{AF11D232-2C17-D1FE-F2A2-C80925C1EA1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3896978"/>
            <a:ext cx="3565529" cy="733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13" name="Номер слайда 6">
            <a:extLst>
              <a:ext uri="{FF2B5EF4-FFF2-40B4-BE49-F238E27FC236}">
                <a16:creationId xmlns:a16="http://schemas.microsoft.com/office/drawing/2014/main" id="{97BC3FF6-EA23-2A41-289E-C21DD858371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0D5BD23-91C3-4BBC-ACB5-9D22C3A518C9}" type="slidenum">
              <a:t>‹#›</a:t>
            </a:fld>
            <a:endParaRPr lang="ru-RU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8302D-2CEA-4D58-878F-8E4CB097F66A}" type="datetimeFigureOut">
              <a:t>18.02.2026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DFF5D-85B7-4E6D-81FF-E8692D7628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2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0E085-8AF7-D0E0-6025-90AEB5CA0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F94FC-0D2F-4D6C-0540-EB8C9AB707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3A28A-13FE-9937-EC4F-5B092A1D9641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780C0D-5AB8-48E3-B17D-54B075C983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CDC3A-B9C1-206F-D280-712C79841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EC5F2-005B-DB6D-45EF-72958395FF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11087-D1A5-E0C3-9C70-4B35CBC5B1CC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07B0E-84B9-4AF1-BC75-358C1D353B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32ED0-0320-C7E3-4C42-BE9742976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A30F-B320-1CF2-ABD9-2995F4FD28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E7850-3A5D-CD3D-F05A-445A7078614B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281C6F-A208-4D81-8FC8-912EB7BB7D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C1066-6F94-55E3-E916-D55D7B6A5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C5EA0-68FD-23E5-67D9-8F5B42408B5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0DD14-9147-95B5-6E06-57C662399046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36E369-357F-41FF-96C8-07D2CCDF2C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9340E-1966-3D34-B4E4-752B637C6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8BD4B-C3BC-17E8-3C87-18AB66F8F11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18E71-6F1F-CF57-37DE-88BFAC324FB8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9F7F32-195D-455F-AE8C-72BBA6E23C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9F343-3639-279C-1EBB-B003BB9CF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EDDF8-FB6C-B937-E888-10DAF3D27B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D45B0-ADF9-76F5-0FD0-61ED3420DD9A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9E7E0C-A81C-400F-B7A0-0D9B70CBE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C445-7AC0-88FF-F08E-2B666ECF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12F82-4EA2-CF3B-E5E1-37D943591D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20E1-943E-D8ED-4E06-AD9574DB93FE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209B72-337C-4915-BFDD-FBDC07C2F2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A9EB5-FAD7-60E9-9433-44700881C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3AE17-DBDB-1751-4642-19027D2148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694F1-67C1-1025-6F7F-DE302EBE3CE8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46414-B7C0-4D3D-91F9-9FAD063590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E0F14-09BC-0DE2-C686-03100B93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02D10-F75C-CA9C-24F1-18B2180ACE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EB4A1-CAA2-7C3C-65FB-6FBE37BA10EB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808894-F335-4CF6-BC01-F45E86BB2E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F8F51-91EC-4B91-637C-DA36C511C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E5294-C344-C22E-79E4-B536419138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822329" y="7040559"/>
            <a:ext cx="6584951" cy="5761040"/>
          </a:xfrm>
          <a:noFill/>
          <a:ln>
            <a:noFill/>
          </a:ln>
        </p:spPr>
        <p:txBody>
          <a:bodyPr wrap="square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00CA-8DB3-E922-1CE0-6C0158D18296}"/>
              </a:ext>
            </a:extLst>
          </p:cNvPr>
          <p:cNvSpPr txBox="1">
            <a:spLocks noGrp="1"/>
          </p:cNvSpPr>
          <p:nvPr/>
        </p:nvSpPr>
        <p:spPr>
          <a:xfrm>
            <a:off x="4660897" y="13896978"/>
            <a:ext cx="3567110" cy="73342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44EEE-F408-4039-ADCC-F6CD635F69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4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47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4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910742"/>
            <a:ext cx="12070080" cy="4279392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9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5343754"/>
            <a:ext cx="12070080" cy="13716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6735" y="2214881"/>
            <a:ext cx="5925312" cy="48280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1504" y="2214882"/>
            <a:ext cx="5925312" cy="48280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97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" y="3098801"/>
            <a:ext cx="5925312" cy="40538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504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504" y="3098801"/>
            <a:ext cx="5925312" cy="40538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8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52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25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" y="0"/>
            <a:ext cx="486094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848085" y="0"/>
            <a:ext cx="7681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1"/>
            <a:ext cx="3840480" cy="2743200"/>
          </a:xfrm>
        </p:spPr>
        <p:txBody>
          <a:bodyPr anchor="b">
            <a:norm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0" y="877824"/>
            <a:ext cx="7790688" cy="6309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3511296"/>
            <a:ext cx="3840480" cy="405494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8614" y="7751743"/>
            <a:ext cx="3142212" cy="438150"/>
          </a:xfrm>
        </p:spPr>
        <p:txBody>
          <a:bodyPr/>
          <a:lstStyle>
            <a:lvl1pPr algn="l">
              <a:defRPr/>
            </a:lvl1pPr>
          </a:lstStyle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60720" y="7751743"/>
            <a:ext cx="5577840" cy="4381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70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943600"/>
            <a:ext cx="1462659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9" y="5898091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6089904"/>
            <a:ext cx="12135917" cy="987552"/>
          </a:xfrm>
        </p:spPr>
        <p:txBody>
          <a:bodyPr lIns="91440" tIns="0" rIns="91440" bIns="0" anchor="b">
            <a:no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" y="0"/>
            <a:ext cx="14630382" cy="589809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840">
                <a:solidFill>
                  <a:schemeClr val="bg1"/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6736" y="7088428"/>
            <a:ext cx="12135917" cy="7132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720"/>
              </a:spcAft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09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50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7734"/>
            <a:ext cx="3154680" cy="690890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7734"/>
            <a:ext cx="9281160" cy="6908906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28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601179"/>
            <a:ext cx="14630401" cy="79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4881"/>
            <a:ext cx="12070080" cy="48280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6737" y="7751743"/>
            <a:ext cx="29667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rgbClr val="FFFFFF"/>
                </a:solidFill>
              </a:defRPr>
            </a:lvl1pPr>
          </a:lstStyle>
          <a:p>
            <a:pPr lvl="0"/>
            <a:fld id="{652D75AC-2BF7-44A9-8499-98700A01DB75}" type="datetime1">
              <a:rPr lang="en-US" smtClean="0"/>
              <a:pPr lvl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3422" y="7751743"/>
            <a:ext cx="57873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 cap="all" baseline="0">
                <a:solidFill>
                  <a:srgbClr val="FFFFFF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550" y="7751743"/>
            <a:ext cx="15744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rgbClr val="FFFFFF"/>
                </a:solidFill>
              </a:defRPr>
            </a:lvl1pPr>
          </a:lstStyle>
          <a:p>
            <a:pPr lvl="0"/>
            <a:fld id="{5F170A00-9566-404A-BF68-DF6638C0324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432238" y="2085414"/>
            <a:ext cx="119603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57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1097280" rtl="0" eaLnBrk="1" latinLnBrk="0" hangingPunct="1">
        <a:lnSpc>
          <a:spcPct val="85000"/>
        </a:lnSpc>
        <a:spcBef>
          <a:spcPct val="0"/>
        </a:spcBef>
        <a:buNone/>
        <a:defRPr sz="5760" kern="1200" spc="-6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6085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031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9977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19226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56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8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0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56A9987-AD59-DF71-AE73-DAB7C24C0420}"/>
              </a:ext>
            </a:extLst>
          </p:cNvPr>
          <p:cNvSpPr/>
          <p:nvPr/>
        </p:nvSpPr>
        <p:spPr>
          <a:xfrm>
            <a:off x="793790" y="709909"/>
            <a:ext cx="7556418" cy="354389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/>
                <a:ea typeface="Instrument Sans Semi Bold" pitchFamily="34"/>
                <a:cs typeface="Instrument Sans Semi Bold" pitchFamily="34"/>
              </a:rPr>
              <a:t>Бизнес-план открытия малого предприятия по специальности Монтаж и эксплуатация линий связи</a:t>
            </a:r>
            <a:endParaRPr lang="en-US" sz="4450" b="0" i="0" u="none" strike="noStrike" kern="1200" cap="none" spc="0" baseline="0">
              <a:uFillTx/>
              <a:latin typeface="Instrument Sans Semi Bold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CFF4349-DB83-2D6E-1DF8-185FD036E73C}"/>
              </a:ext>
            </a:extLst>
          </p:cNvPr>
          <p:cNvSpPr/>
          <p:nvPr/>
        </p:nvSpPr>
        <p:spPr>
          <a:xfrm>
            <a:off x="793790" y="4766785"/>
            <a:ext cx="7556418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/>
              </a:rPr>
              <a:t>Министерство инновационного и цифрового развития РС(Я) ГАПОУ РС(Я) ЛКС и ИТ им П.И Дудкина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7D4E26B-55E8-A314-0454-190292063FB8}"/>
              </a:ext>
            </a:extLst>
          </p:cNvPr>
          <p:cNvSpPr/>
          <p:nvPr/>
        </p:nvSpPr>
        <p:spPr>
          <a:xfrm>
            <a:off x="793790" y="5747744"/>
            <a:ext cx="75564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 dirty="0" err="1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Выполнил</a:t>
            </a:r>
            <a:r>
              <a:rPr lang="en-US" sz="1750" b="1" i="0" u="none" strike="noStrike" kern="1200" cap="none" spc="0" baseline="0" dirty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:</a:t>
            </a:r>
            <a:r>
              <a:rPr lang="en-US" sz="1750" b="0" i="0" u="none" strike="noStrike" kern="1200" cap="none" spc="0" baseline="0" dirty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 </a:t>
            </a:r>
            <a:r>
              <a:rPr lang="en-US" sz="1750" b="0" i="0" u="none" strike="noStrike" kern="1200" cap="none" spc="0" baseline="0" dirty="0" err="1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студент</a:t>
            </a:r>
            <a:r>
              <a:rPr lang="en-US" sz="1750" b="0" i="0" u="none" strike="noStrike" kern="1200" cap="none" spc="0" baseline="0" dirty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 </a:t>
            </a:r>
            <a:r>
              <a:rPr lang="en-US" sz="1750" b="0" i="0" u="none" strike="noStrike" kern="1200" cap="none" spc="0" baseline="0" dirty="0" err="1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группы</a:t>
            </a:r>
            <a:r>
              <a:rPr lang="en-US" sz="1750" b="0" i="0" u="none" strike="noStrike" kern="1200" cap="none" spc="0" baseline="0" dirty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 НКС-24 </a:t>
            </a:r>
            <a:r>
              <a:rPr lang="ru-RU" sz="1750" b="1" i="0" u="none" strike="noStrike" kern="1200" cap="none" spc="0" baseline="0" dirty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Макаров Денис</a:t>
            </a:r>
          </a:p>
          <a:p>
            <a:pPr marL="0" marR="0" lvl="0" indent="0" algn="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50" b="0" i="0" u="none" strike="noStrike" kern="1200" cap="none" spc="0" baseline="0" dirty="0">
              <a:uFillTx/>
              <a:latin typeface="Instrument Sans Medium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8D8C2C0-1519-E213-FE5B-06F782611710}"/>
              </a:ext>
            </a:extLst>
          </p:cNvPr>
          <p:cNvSpPr/>
          <p:nvPr/>
        </p:nvSpPr>
        <p:spPr>
          <a:xfrm>
            <a:off x="793790" y="6365796"/>
            <a:ext cx="75564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Дисциплина:</a:t>
            </a: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 Предпринимательство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0C529EA-FEE0-1ACB-AF37-48CB71F44336}"/>
              </a:ext>
            </a:extLst>
          </p:cNvPr>
          <p:cNvSpPr/>
          <p:nvPr/>
        </p:nvSpPr>
        <p:spPr>
          <a:xfrm>
            <a:off x="793790" y="6983848"/>
            <a:ext cx="75564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Город:</a:t>
            </a:r>
            <a:r>
              <a:rPr lang="en-US" sz="1750" b="0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 </a:t>
            </a:r>
            <a:r>
              <a:rPr lang="en-US" sz="175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Якутск</a:t>
            </a:r>
            <a:r>
              <a:rPr lang="en-US" sz="1750" b="0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, 2026 г.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996E94-A50D-3BA2-7656-EB1973E8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50" dirty="0">
                <a:latin typeface="Instrument Sans Medium"/>
              </a:rPr>
              <a:t>Содержание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14A76DA-902A-F591-1C81-FCD6E2DFE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736" y="2214881"/>
            <a:ext cx="12070080" cy="506515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800" spc="300" dirty="0">
                <a:solidFill>
                  <a:schemeClr val="tx1"/>
                </a:solidFill>
              </a:rPr>
              <a:t>Введение</a:t>
            </a:r>
            <a:r>
              <a:rPr lang="en-US" sz="2800" spc="300" dirty="0">
                <a:solidFill>
                  <a:schemeClr val="tx1"/>
                </a:solidFill>
              </a:rPr>
              <a:t>&gt;3</a:t>
            </a:r>
            <a:br>
              <a:rPr lang="en-US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Цель и актуальность цели</a:t>
            </a:r>
            <a:r>
              <a:rPr lang="en-US" sz="2800" spc="300" dirty="0">
                <a:solidFill>
                  <a:schemeClr val="tx1"/>
                </a:solidFill>
              </a:rPr>
              <a:t>&gt;4</a:t>
            </a:r>
            <a:br>
              <a:rPr lang="en-US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Прейскурант услуг</a:t>
            </a:r>
            <a:r>
              <a:rPr lang="en-US" sz="2800" spc="300" dirty="0">
                <a:solidFill>
                  <a:schemeClr val="tx1"/>
                </a:solidFill>
              </a:rPr>
              <a:t>&gt;5</a:t>
            </a:r>
            <a:br>
              <a:rPr lang="en-US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Техническое оснащение</a:t>
            </a:r>
            <a:r>
              <a:rPr lang="en-US" sz="2800" spc="300" dirty="0">
                <a:solidFill>
                  <a:schemeClr val="tx1"/>
                </a:solidFill>
              </a:rPr>
              <a:t>&gt;6</a:t>
            </a:r>
            <a:br>
              <a:rPr lang="ru-RU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Кредит</a:t>
            </a:r>
            <a:r>
              <a:rPr lang="en-US" sz="2800" spc="300" dirty="0">
                <a:solidFill>
                  <a:schemeClr val="tx1"/>
                </a:solidFill>
              </a:rPr>
              <a:t>&gt;7</a:t>
            </a:r>
            <a:br>
              <a:rPr lang="ru-RU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Штатное расписание</a:t>
            </a:r>
            <a:r>
              <a:rPr lang="en-US" sz="2800" spc="300" dirty="0">
                <a:solidFill>
                  <a:schemeClr val="tx1"/>
                </a:solidFill>
              </a:rPr>
              <a:t>&gt;8</a:t>
            </a:r>
            <a:br>
              <a:rPr lang="ru-RU" sz="2800" spc="300" dirty="0">
                <a:solidFill>
                  <a:schemeClr val="tx1"/>
                </a:solidFill>
              </a:rPr>
            </a:br>
            <a:r>
              <a:rPr lang="en-US" sz="2800" spc="300" dirty="0">
                <a:solidFill>
                  <a:schemeClr val="tx1"/>
                </a:solidFill>
              </a:rPr>
              <a:t>SWOT&gt;9</a:t>
            </a:r>
            <a:br>
              <a:rPr lang="en-US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Охрана Труда</a:t>
            </a:r>
            <a:r>
              <a:rPr lang="en-US" sz="2800" spc="300" dirty="0">
                <a:solidFill>
                  <a:schemeClr val="tx1"/>
                </a:solidFill>
              </a:rPr>
              <a:t>&gt;10</a:t>
            </a:r>
            <a:br>
              <a:rPr lang="ru-RU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Экономическая эффективность</a:t>
            </a:r>
            <a:r>
              <a:rPr lang="en-US" sz="2800" spc="300" dirty="0">
                <a:solidFill>
                  <a:schemeClr val="tx1"/>
                </a:solidFill>
              </a:rPr>
              <a:t>&gt;11</a:t>
            </a:r>
            <a:br>
              <a:rPr lang="ru-RU" sz="2800" spc="300" dirty="0">
                <a:solidFill>
                  <a:schemeClr val="tx1"/>
                </a:solidFill>
              </a:rPr>
            </a:br>
            <a:r>
              <a:rPr lang="ru-RU" sz="2800" spc="300" dirty="0">
                <a:solidFill>
                  <a:schemeClr val="tx1"/>
                </a:solidFill>
              </a:rPr>
              <a:t>Заключение</a:t>
            </a:r>
            <a:r>
              <a:rPr lang="en-US" sz="2800" spc="300" dirty="0">
                <a:solidFill>
                  <a:schemeClr val="tx1"/>
                </a:solidFill>
              </a:rPr>
              <a:t>&gt;12</a:t>
            </a:r>
            <a:br>
              <a:rPr lang="ru-RU" sz="2800" spc="300" dirty="0">
                <a:solidFill>
                  <a:schemeClr val="tx1"/>
                </a:solidFill>
              </a:rPr>
            </a:br>
            <a:br>
              <a:rPr lang="en-US" spc="300" dirty="0">
                <a:solidFill>
                  <a:schemeClr val="tx1"/>
                </a:solidFill>
              </a:rPr>
            </a:br>
            <a:endParaRPr lang="en-US" spc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47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A2550-024B-805B-1695-09FC9A4A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36" y="316233"/>
            <a:ext cx="12070080" cy="1740908"/>
          </a:xfrm>
        </p:spPr>
        <p:txBody>
          <a:bodyPr/>
          <a:lstStyle/>
          <a:p>
            <a:pPr algn="r"/>
            <a:r>
              <a:rPr lang="ru-RU" dirty="0">
                <a:latin typeface="Instrument Sans Medium"/>
              </a:rPr>
              <a:t>О компании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22F2F7-754D-2653-A458-185C5C32A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МагистральСвязьСтрой</a:t>
            </a:r>
            <a:br>
              <a:rPr lang="ru-RU" spc="300" dirty="0">
                <a:solidFill>
                  <a:schemeClr val="tx1"/>
                </a:solidFill>
                <a:latin typeface="Instrument Sans Medium"/>
              </a:rPr>
            </a:br>
            <a:br>
              <a:rPr lang="ru-RU" spc="300" dirty="0">
                <a:solidFill>
                  <a:schemeClr val="tx1"/>
                </a:solidFill>
                <a:latin typeface="Instrument Sans Medium"/>
              </a:rPr>
            </a:br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Стилль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:</a:t>
            </a:r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фундаметальный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,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 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“</a:t>
            </a:r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гос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 надежный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”</a:t>
            </a:r>
            <a:br>
              <a:rPr lang="ru-RU" spc="300" dirty="0">
                <a:solidFill>
                  <a:schemeClr val="tx1"/>
                </a:solidFill>
                <a:latin typeface="Instrument Sans Medium"/>
              </a:rPr>
            </a:br>
            <a:br>
              <a:rPr lang="en-US" spc="300" dirty="0">
                <a:solidFill>
                  <a:schemeClr val="tx1"/>
                </a:solidFill>
                <a:latin typeface="Instrument Sans Medium"/>
              </a:rPr>
            </a:b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Описание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: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 </a:t>
            </a:r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МагистральСвязьСтрой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 – экспертное предприятие в области строительства и эксплуатации линейно-кабельных сооружений связи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. 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Мы обладаем ресурсами для реализации масштабных инфраструктурных проектов включая прокладку кабели в сложных условиях и комплексное техническое обслуживание сетей</a:t>
            </a:r>
            <a:r>
              <a:rPr lang="en-US" spc="300" dirty="0">
                <a:solidFill>
                  <a:schemeClr val="tx1"/>
                </a:solidFill>
                <a:latin typeface="Instrument Sans Medium"/>
              </a:rPr>
              <a:t>.</a:t>
            </a:r>
            <a:br>
              <a:rPr lang="en-US" spc="300" dirty="0">
                <a:solidFill>
                  <a:schemeClr val="tx1"/>
                </a:solidFill>
                <a:latin typeface="Instrument Sans Medium"/>
              </a:rPr>
            </a:b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Работаем строго </a:t>
            </a:r>
            <a:r>
              <a:rPr lang="ru-RU" spc="300" dirty="0" err="1">
                <a:solidFill>
                  <a:schemeClr val="tx1"/>
                </a:solidFill>
                <a:latin typeface="Instrument Sans Medium"/>
              </a:rPr>
              <a:t>поГОСТам</a:t>
            </a:r>
            <a:r>
              <a:rPr lang="ru-RU" spc="300" dirty="0">
                <a:solidFill>
                  <a:schemeClr val="tx1"/>
                </a:solidFill>
                <a:latin typeface="Instrument Sans Medium"/>
              </a:rPr>
              <a:t> с соблюдение всех регламентов</a:t>
            </a:r>
          </a:p>
        </p:txBody>
      </p:sp>
    </p:spTree>
    <p:extLst>
      <p:ext uri="{BB962C8B-B14F-4D97-AF65-F5344CB8AC3E}">
        <p14:creationId xmlns:p14="http://schemas.microsoft.com/office/powerpoint/2010/main" val="256393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1272422-BC2D-AF5B-7F37-B70FD1DB8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0D787C8-7BC5-C4AB-5390-0A7C2AD66E80}"/>
              </a:ext>
            </a:extLst>
          </p:cNvPr>
          <p:cNvSpPr/>
          <p:nvPr/>
        </p:nvSpPr>
        <p:spPr>
          <a:xfrm>
            <a:off x="793790" y="2889587"/>
            <a:ext cx="8048384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 dirty="0" err="1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Цели</a:t>
            </a:r>
            <a:r>
              <a:rPr lang="en-US" sz="4450" b="0" i="0" u="none" strike="noStrike" kern="1200" cap="none" spc="0" baseline="0" dirty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 и </a:t>
            </a:r>
            <a:r>
              <a:rPr lang="en-US" sz="4450" b="0" i="0" u="none" strike="noStrike" kern="1200" cap="none" spc="0" baseline="0" dirty="0" err="1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актуальность</a:t>
            </a:r>
            <a:r>
              <a:rPr lang="en-US" sz="4450" b="0" i="0" u="none" strike="noStrike" kern="1200" cap="none" spc="0" baseline="0" dirty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 </a:t>
            </a:r>
            <a:r>
              <a:rPr lang="en-US" sz="4450" b="0" i="0" u="none" strike="noStrike" kern="1200" cap="none" spc="0" baseline="0" dirty="0" err="1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проекта</a:t>
            </a:r>
            <a:endParaRPr lang="en-US" sz="4450" b="0" i="0" u="none" strike="noStrike" kern="1200" cap="none" spc="0" baseline="0" dirty="0">
              <a:uFillTx/>
              <a:latin typeface="Calibri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052FB9-9A14-391A-1EE2-152AABBCA938}"/>
              </a:ext>
            </a:extLst>
          </p:cNvPr>
          <p:cNvSpPr/>
          <p:nvPr/>
        </p:nvSpPr>
        <p:spPr>
          <a:xfrm>
            <a:off x="793790" y="4114800"/>
            <a:ext cx="13042818" cy="197310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Цель:</a:t>
            </a:r>
            <a:r>
              <a:rPr lang="en-US" sz="1750" b="0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 Оказание услуг по монтажу ВОЛС и СКС .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  <a:p>
            <a:pPr marL="342900" marR="0" lvl="0" indent="-34290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Актуальность:</a:t>
            </a: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 Программа устранения цифрового неравенства в Якутии требует квалифицированных подрядчиков для «последней мили».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  <a:p>
            <a:pPr marL="342900" marR="0" lvl="0" indent="-34290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Наше преимущество:</a:t>
            </a: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 Наличие дипломированных специалистов НКС и современного парка измерительных приборов.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2B4D55-B8E2-FC3A-6F13-E35F9F6A4CB1}"/>
              </a:ext>
            </a:extLst>
          </p:cNvPr>
          <p:cNvSpPr/>
          <p:nvPr/>
        </p:nvSpPr>
        <p:spPr>
          <a:xfrm>
            <a:off x="793790" y="759381"/>
            <a:ext cx="5670587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Прейскурант услуг</a:t>
            </a:r>
            <a:endParaRPr lang="en-US" sz="44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7C55F6-8B88-FD62-BF99-4F03AF1C3643}"/>
              </a:ext>
            </a:extLst>
          </p:cNvPr>
          <p:cNvSpPr/>
          <p:nvPr/>
        </p:nvSpPr>
        <p:spPr>
          <a:xfrm>
            <a:off x="793790" y="1921785"/>
            <a:ext cx="130428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Это то, на чем предприятие будет зарабатывать.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BE1BF4-7995-EF12-9285-720A19D4FA5C}"/>
              </a:ext>
            </a:extLst>
          </p:cNvPr>
          <p:cNvSpPr/>
          <p:nvPr/>
        </p:nvSpPr>
        <p:spPr>
          <a:xfrm>
            <a:off x="793790" y="2539837"/>
            <a:ext cx="13042818" cy="4930380"/>
          </a:xfrm>
          <a:custGeom>
            <a:avLst>
              <a:gd name="f0" fmla="val 41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6" cap="flat">
            <a:solidFill>
              <a:srgbClr val="FFFFFF">
                <a:alpha val="2400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3202A3-AFFD-0C9F-2878-F04C439AEC49}"/>
              </a:ext>
            </a:extLst>
          </p:cNvPr>
          <p:cNvSpPr/>
          <p:nvPr/>
        </p:nvSpPr>
        <p:spPr>
          <a:xfrm>
            <a:off x="801407" y="2547463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C630BCD-F220-FE84-FA4D-92A14BD325D6}"/>
              </a:ext>
            </a:extLst>
          </p:cNvPr>
          <p:cNvSpPr/>
          <p:nvPr/>
        </p:nvSpPr>
        <p:spPr>
          <a:xfrm>
            <a:off x="1028343" y="2691170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Вид услуги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EE04B3-DBE8-A58E-F44A-8CD5B7AA3715}"/>
              </a:ext>
            </a:extLst>
          </p:cNvPr>
          <p:cNvSpPr/>
          <p:nvPr/>
        </p:nvSpPr>
        <p:spPr>
          <a:xfrm>
            <a:off x="6243157" y="2691170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Ед. изм.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927C1F-4A16-EEFD-1902-DE7BC983F05A}"/>
              </a:ext>
            </a:extLst>
          </p:cNvPr>
          <p:cNvSpPr/>
          <p:nvPr/>
        </p:nvSpPr>
        <p:spPr>
          <a:xfrm>
            <a:off x="8848603" y="2691170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Стоимость 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D6403F-FBDB-6BB9-CE69-F14E56709AD7}"/>
              </a:ext>
            </a:extLst>
          </p:cNvPr>
          <p:cNvSpPr/>
          <p:nvPr/>
        </p:nvSpPr>
        <p:spPr>
          <a:xfrm>
            <a:off x="801407" y="3197784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47CA1B-86A6-B1A0-4628-712276DE0B2C}"/>
              </a:ext>
            </a:extLst>
          </p:cNvPr>
          <p:cNvSpPr/>
          <p:nvPr/>
        </p:nvSpPr>
        <p:spPr>
          <a:xfrm>
            <a:off x="1028343" y="3341491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Сварка оптического волокна (1 стык)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41041D-F96B-194F-2586-E553448489E6}"/>
              </a:ext>
            </a:extLst>
          </p:cNvPr>
          <p:cNvSpPr/>
          <p:nvPr/>
        </p:nvSpPr>
        <p:spPr>
          <a:xfrm>
            <a:off x="6243157" y="3341491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шт.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7BF16D-5F70-0169-8610-AFD7572EADDE}"/>
              </a:ext>
            </a:extLst>
          </p:cNvPr>
          <p:cNvSpPr/>
          <p:nvPr/>
        </p:nvSpPr>
        <p:spPr>
          <a:xfrm>
            <a:off x="8848603" y="3341491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400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C2F0BEB-83D4-FCC7-C0DD-E7CF6DA73D0A}"/>
              </a:ext>
            </a:extLst>
          </p:cNvPr>
          <p:cNvSpPr/>
          <p:nvPr/>
        </p:nvSpPr>
        <p:spPr>
          <a:xfrm>
            <a:off x="801407" y="3848096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2AE7A-89EC-45F4-ADBB-62FDF9E12EC7}"/>
              </a:ext>
            </a:extLst>
          </p:cNvPr>
          <p:cNvSpPr/>
          <p:nvPr/>
        </p:nvSpPr>
        <p:spPr>
          <a:xfrm>
            <a:off x="1028343" y="3991804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Прокладка кабеля внутри здания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91AE53C-35AD-5738-C390-EAB43CDA69F9}"/>
              </a:ext>
            </a:extLst>
          </p:cNvPr>
          <p:cNvSpPr/>
          <p:nvPr/>
        </p:nvSpPr>
        <p:spPr>
          <a:xfrm>
            <a:off x="6243157" y="3991804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метр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97DA21-8963-31F0-A7C3-398E99869075}"/>
              </a:ext>
            </a:extLst>
          </p:cNvPr>
          <p:cNvSpPr/>
          <p:nvPr/>
        </p:nvSpPr>
        <p:spPr>
          <a:xfrm>
            <a:off x="8848603" y="3991804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E379839-8601-25AC-04E1-8501313A171F}"/>
              </a:ext>
            </a:extLst>
          </p:cNvPr>
          <p:cNvSpPr/>
          <p:nvPr/>
        </p:nvSpPr>
        <p:spPr>
          <a:xfrm>
            <a:off x="801407" y="4498418"/>
            <a:ext cx="13027584" cy="1013219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62B7902-E3B0-CA82-B28A-C52E25B7921F}"/>
              </a:ext>
            </a:extLst>
          </p:cNvPr>
          <p:cNvSpPr/>
          <p:nvPr/>
        </p:nvSpPr>
        <p:spPr>
          <a:xfrm>
            <a:off x="1028343" y="4642125"/>
            <a:ext cx="4753572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Монтаж воздушной линии связи (по опорам)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2B9E04-161B-E07E-520D-1AD1DDB7DAAF}"/>
              </a:ext>
            </a:extLst>
          </p:cNvPr>
          <p:cNvSpPr/>
          <p:nvPr/>
        </p:nvSpPr>
        <p:spPr>
          <a:xfrm>
            <a:off x="6243157" y="4642125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метр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6F0C1E-BE4B-7A81-7E3E-CDE34CC93AA7}"/>
              </a:ext>
            </a:extLst>
          </p:cNvPr>
          <p:cNvSpPr/>
          <p:nvPr/>
        </p:nvSpPr>
        <p:spPr>
          <a:xfrm>
            <a:off x="8848603" y="4642125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31E2BD1-3D8B-E81B-D727-BD8902C1F124}"/>
              </a:ext>
            </a:extLst>
          </p:cNvPr>
          <p:cNvSpPr/>
          <p:nvPr/>
        </p:nvSpPr>
        <p:spPr>
          <a:xfrm>
            <a:off x="801407" y="5511637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B5C06EC-D731-37B9-7AC3-21F5390A1F0B}"/>
              </a:ext>
            </a:extLst>
          </p:cNvPr>
          <p:cNvSpPr/>
          <p:nvPr/>
        </p:nvSpPr>
        <p:spPr>
          <a:xfrm>
            <a:off x="1028343" y="5655353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Установка и настройка роутера/узла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71112B-B3AE-222A-64A9-C1CE22360C18}"/>
              </a:ext>
            </a:extLst>
          </p:cNvPr>
          <p:cNvSpPr/>
          <p:nvPr/>
        </p:nvSpPr>
        <p:spPr>
          <a:xfrm>
            <a:off x="6243157" y="5655353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шт.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6C54432-ECA8-8469-01EC-F9CF0FA2FB0A}"/>
              </a:ext>
            </a:extLst>
          </p:cNvPr>
          <p:cNvSpPr/>
          <p:nvPr/>
        </p:nvSpPr>
        <p:spPr>
          <a:xfrm>
            <a:off x="8848603" y="5655353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1 500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D7597E1-6117-FA4D-DADD-49DBC59FA0E7}"/>
              </a:ext>
            </a:extLst>
          </p:cNvPr>
          <p:cNvSpPr/>
          <p:nvPr/>
        </p:nvSpPr>
        <p:spPr>
          <a:xfrm>
            <a:off x="801407" y="6161958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BF88512-3922-024D-5289-9ABF2E72BC21}"/>
              </a:ext>
            </a:extLst>
          </p:cNvPr>
          <p:cNvSpPr/>
          <p:nvPr/>
        </p:nvSpPr>
        <p:spPr>
          <a:xfrm>
            <a:off x="1028343" y="6305665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Тестирование линии с выдачей протокола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1BAFBC7-D260-E394-9505-51D916B3AC48}"/>
              </a:ext>
            </a:extLst>
          </p:cNvPr>
          <p:cNvSpPr/>
          <p:nvPr/>
        </p:nvSpPr>
        <p:spPr>
          <a:xfrm>
            <a:off x="6243157" y="6305665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линия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C3F69CB-4B90-863A-7F32-E629DF20A7EE}"/>
              </a:ext>
            </a:extLst>
          </p:cNvPr>
          <p:cNvSpPr/>
          <p:nvPr/>
        </p:nvSpPr>
        <p:spPr>
          <a:xfrm>
            <a:off x="8848603" y="6305665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2FF7907-31DE-9198-2644-D67B23148CDD}"/>
              </a:ext>
            </a:extLst>
          </p:cNvPr>
          <p:cNvSpPr/>
          <p:nvPr/>
        </p:nvSpPr>
        <p:spPr>
          <a:xfrm>
            <a:off x="801407" y="6812280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BC98878-60E2-C862-9625-FC39DC5E3DA7}"/>
              </a:ext>
            </a:extLst>
          </p:cNvPr>
          <p:cNvSpPr/>
          <p:nvPr/>
        </p:nvSpPr>
        <p:spPr>
          <a:xfrm>
            <a:off x="1028343" y="6955987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Выезд мастера на аварийную диагностику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13A1AF8-99A0-B207-8BBC-49F21AB00FFA}"/>
              </a:ext>
            </a:extLst>
          </p:cNvPr>
          <p:cNvSpPr/>
          <p:nvPr/>
        </p:nvSpPr>
        <p:spPr>
          <a:xfrm>
            <a:off x="6243157" y="6955987"/>
            <a:ext cx="2144194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услуга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9209700-F286-FB6B-186E-659BF3BFE1D9}"/>
              </a:ext>
            </a:extLst>
          </p:cNvPr>
          <p:cNvSpPr/>
          <p:nvPr/>
        </p:nvSpPr>
        <p:spPr>
          <a:xfrm>
            <a:off x="8848603" y="6955987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1 500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E8C453-D0B1-3C9B-816F-DBF587388418}"/>
              </a:ext>
            </a:extLst>
          </p:cNvPr>
          <p:cNvSpPr/>
          <p:nvPr/>
        </p:nvSpPr>
        <p:spPr>
          <a:xfrm>
            <a:off x="758668" y="693298"/>
            <a:ext cx="9993276" cy="6774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250" b="0" i="0" u="none" strike="noStrike" kern="1200" cap="none" spc="0" baseline="0">
                <a:uFillTx/>
                <a:latin typeface="Instrument Sans Semi Bold"/>
                <a:ea typeface="Instrument Sans Semi Bold" pitchFamily="34"/>
                <a:cs typeface="Instrument Sans Semi Bold" pitchFamily="34"/>
              </a:rPr>
              <a:t>Техническое оснащение </a:t>
            </a:r>
            <a:endParaRPr lang="en-US" sz="4250" b="0" i="0" u="none" strike="noStrike" kern="1200" cap="none" spc="0" baseline="0">
              <a:uFillTx/>
              <a:latin typeface="Instrument Sans Semi Bol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D64F02-3427-D0B0-2497-92BC18A58206}"/>
              </a:ext>
            </a:extLst>
          </p:cNvPr>
          <p:cNvSpPr/>
          <p:nvPr/>
        </p:nvSpPr>
        <p:spPr>
          <a:xfrm>
            <a:off x="758668" y="1785100"/>
            <a:ext cx="1311307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Минимальный набор профессионального оборудования.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E0934D-94AE-E3C9-B8FF-B7B132B32459}"/>
              </a:ext>
            </a:extLst>
          </p:cNvPr>
          <p:cNvSpPr/>
          <p:nvPr/>
        </p:nvSpPr>
        <p:spPr>
          <a:xfrm>
            <a:off x="758668" y="2357314"/>
            <a:ext cx="13113072" cy="5178859"/>
          </a:xfrm>
          <a:custGeom>
            <a:avLst>
              <a:gd name="f0" fmla="val 3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6" cap="flat">
            <a:solidFill>
              <a:srgbClr val="FFFFFF">
                <a:alpha val="2400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7A660D-5C88-8E73-982E-738BEFF698FF}"/>
              </a:ext>
            </a:extLst>
          </p:cNvPr>
          <p:cNvSpPr/>
          <p:nvPr/>
        </p:nvSpPr>
        <p:spPr>
          <a:xfrm>
            <a:off x="766285" y="2364940"/>
            <a:ext cx="13097829" cy="603055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EE100C-F5C7-7ED6-8656-1B0116E795B6}"/>
              </a:ext>
            </a:extLst>
          </p:cNvPr>
          <p:cNvSpPr/>
          <p:nvPr/>
        </p:nvSpPr>
        <p:spPr>
          <a:xfrm>
            <a:off x="983098" y="2496860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Наименование оборудования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5AC091-D7D9-EAEE-EC85-B5C2CD2959D4}"/>
              </a:ext>
            </a:extLst>
          </p:cNvPr>
          <p:cNvSpPr/>
          <p:nvPr/>
        </p:nvSpPr>
        <p:spPr>
          <a:xfrm>
            <a:off x="6226012" y="2496860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Назначение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843141-968C-A923-6CE2-CF2F225EDC54}"/>
              </a:ext>
            </a:extLst>
          </p:cNvPr>
          <p:cNvSpPr/>
          <p:nvPr/>
        </p:nvSpPr>
        <p:spPr>
          <a:xfrm>
            <a:off x="10155317" y="2496860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Сумма </a:t>
            </a:r>
            <a:endParaRPr lang="en-US" sz="1700" b="0" i="0" u="none" strike="noStrike" kern="1200" cap="none" spc="0" baseline="0">
              <a:uFillTx/>
              <a:latin typeface="Instrument Sans Medium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CFC359-AA32-4A7D-AEB6-0A7BD131AB70}"/>
              </a:ext>
            </a:extLst>
          </p:cNvPr>
          <p:cNvSpPr/>
          <p:nvPr/>
        </p:nvSpPr>
        <p:spPr>
          <a:xfrm>
            <a:off x="766285" y="2967986"/>
            <a:ext cx="13097829" cy="603055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A98DEA-F77A-CDF8-737C-9652075E621A}"/>
              </a:ext>
            </a:extLst>
          </p:cNvPr>
          <p:cNvSpPr/>
          <p:nvPr/>
        </p:nvSpPr>
        <p:spPr>
          <a:xfrm>
            <a:off x="983098" y="3099907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Сварочный аппарат для ВОЛС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0680B7-5855-A5B5-5657-1298E3C3D20A}"/>
              </a:ext>
            </a:extLst>
          </p:cNvPr>
          <p:cNvSpPr/>
          <p:nvPr/>
        </p:nvSpPr>
        <p:spPr>
          <a:xfrm>
            <a:off x="6226012" y="3099907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Соединение волокон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B0850B-956D-A3C4-3931-C0E44917FDB3}"/>
              </a:ext>
            </a:extLst>
          </p:cNvPr>
          <p:cNvSpPr/>
          <p:nvPr/>
        </p:nvSpPr>
        <p:spPr>
          <a:xfrm>
            <a:off x="10155317" y="3099907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120 000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8C850FD-5342-8C0E-4CA0-86E3844A9DB0}"/>
              </a:ext>
            </a:extLst>
          </p:cNvPr>
          <p:cNvSpPr/>
          <p:nvPr/>
        </p:nvSpPr>
        <p:spPr>
          <a:xfrm>
            <a:off x="766285" y="3571042"/>
            <a:ext cx="13097829" cy="603055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E2D486-8948-4289-3588-7C0BCF91C86F}"/>
              </a:ext>
            </a:extLst>
          </p:cNvPr>
          <p:cNvSpPr/>
          <p:nvPr/>
        </p:nvSpPr>
        <p:spPr>
          <a:xfrm>
            <a:off x="983098" y="3702963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Рефлектометр (OTDR)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41B41C-0210-BEF7-6323-948C29EC7F90}"/>
              </a:ext>
            </a:extLst>
          </p:cNvPr>
          <p:cNvSpPr/>
          <p:nvPr/>
        </p:nvSpPr>
        <p:spPr>
          <a:xfrm>
            <a:off x="6226012" y="3702963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Поиск обрывов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872808-3232-80DF-A23D-D85E0E5AD0FF}"/>
              </a:ext>
            </a:extLst>
          </p:cNvPr>
          <p:cNvSpPr/>
          <p:nvPr/>
        </p:nvSpPr>
        <p:spPr>
          <a:xfrm>
            <a:off x="10155317" y="3702963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45 000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BF656A-F4D0-1E02-9770-913F238FB225}"/>
              </a:ext>
            </a:extLst>
          </p:cNvPr>
          <p:cNvSpPr/>
          <p:nvPr/>
        </p:nvSpPr>
        <p:spPr>
          <a:xfrm>
            <a:off x="766285" y="4174089"/>
            <a:ext cx="13097829" cy="603055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BBB2948-8330-B95E-C531-DCAF256E7F29}"/>
              </a:ext>
            </a:extLst>
          </p:cNvPr>
          <p:cNvSpPr/>
          <p:nvPr/>
        </p:nvSpPr>
        <p:spPr>
          <a:xfrm>
            <a:off x="983098" y="4306010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Набор инструментов НИМ-25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88B189-9CEB-CB0F-52BB-B9BB846BC196}"/>
              </a:ext>
            </a:extLst>
          </p:cNvPr>
          <p:cNvSpPr/>
          <p:nvPr/>
        </p:nvSpPr>
        <p:spPr>
          <a:xfrm>
            <a:off x="6226012" y="4306010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Разделка кабеля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E2F176D-1CC3-A42C-723C-7C986931381E}"/>
              </a:ext>
            </a:extLst>
          </p:cNvPr>
          <p:cNvSpPr/>
          <p:nvPr/>
        </p:nvSpPr>
        <p:spPr>
          <a:xfrm>
            <a:off x="10155317" y="4306010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15 000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4409076-A03A-7C02-FB94-E47D4FFDD5B8}"/>
              </a:ext>
            </a:extLst>
          </p:cNvPr>
          <p:cNvSpPr/>
          <p:nvPr/>
        </p:nvSpPr>
        <p:spPr>
          <a:xfrm>
            <a:off x="766285" y="4777145"/>
            <a:ext cx="13097829" cy="603055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AF0001C-8C45-BA85-3C02-7E1F02F706B6}"/>
              </a:ext>
            </a:extLst>
          </p:cNvPr>
          <p:cNvSpPr/>
          <p:nvPr/>
        </p:nvSpPr>
        <p:spPr>
          <a:xfrm>
            <a:off x="983098" y="4909066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Перфораторы и ручной инструмент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16A467-EBD5-6F30-44F5-186160858764}"/>
              </a:ext>
            </a:extLst>
          </p:cNvPr>
          <p:cNvSpPr/>
          <p:nvPr/>
        </p:nvSpPr>
        <p:spPr>
          <a:xfrm>
            <a:off x="6226012" y="4909066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Монтажные работы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67F1076-1927-CFD7-BC66-79154BC86625}"/>
              </a:ext>
            </a:extLst>
          </p:cNvPr>
          <p:cNvSpPr/>
          <p:nvPr/>
        </p:nvSpPr>
        <p:spPr>
          <a:xfrm>
            <a:off x="10155317" y="4909066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24 000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7B027B3-2333-368B-0751-9A132397492A}"/>
              </a:ext>
            </a:extLst>
          </p:cNvPr>
          <p:cNvSpPr/>
          <p:nvPr/>
        </p:nvSpPr>
        <p:spPr>
          <a:xfrm>
            <a:off x="766285" y="5380192"/>
            <a:ext cx="13097829" cy="603055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74E49EE-82CF-AE4B-61DB-A153B8B7B70C}"/>
              </a:ext>
            </a:extLst>
          </p:cNvPr>
          <p:cNvSpPr/>
          <p:nvPr/>
        </p:nvSpPr>
        <p:spPr>
          <a:xfrm>
            <a:off x="983098" y="5512122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Лестница-трансформер и СИЗ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93EB68C-749C-0EB3-6FA5-DA1A6B829559}"/>
              </a:ext>
            </a:extLst>
          </p:cNvPr>
          <p:cNvSpPr/>
          <p:nvPr/>
        </p:nvSpPr>
        <p:spPr>
          <a:xfrm>
            <a:off x="6226012" y="5512122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Высотные работы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C34483E-523B-AF9A-32F5-052193B95BB8}"/>
              </a:ext>
            </a:extLst>
          </p:cNvPr>
          <p:cNvSpPr/>
          <p:nvPr/>
        </p:nvSpPr>
        <p:spPr>
          <a:xfrm>
            <a:off x="10155317" y="5512122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18 000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3842C07-C3B1-E8B0-2444-1479C8D2470A}"/>
              </a:ext>
            </a:extLst>
          </p:cNvPr>
          <p:cNvSpPr/>
          <p:nvPr/>
        </p:nvSpPr>
        <p:spPr>
          <a:xfrm>
            <a:off x="766285" y="5983248"/>
            <a:ext cx="13097829" cy="94226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506467B-44EA-5937-8FAB-A353A3195B88}"/>
              </a:ext>
            </a:extLst>
          </p:cNvPr>
          <p:cNvSpPr/>
          <p:nvPr/>
        </p:nvSpPr>
        <p:spPr>
          <a:xfrm>
            <a:off x="983098" y="6115168"/>
            <a:ext cx="4801907" cy="6784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Приборы (LAN-тестер, измеритель мощности)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F760CBD-D6D2-F83F-D662-092DCDE32D35}"/>
              </a:ext>
            </a:extLst>
          </p:cNvPr>
          <p:cNvSpPr/>
          <p:nvPr/>
        </p:nvSpPr>
        <p:spPr>
          <a:xfrm>
            <a:off x="6226012" y="6115168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Тестирование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8A0C62C-D706-18BE-6B0C-AA654C9C3329}"/>
              </a:ext>
            </a:extLst>
          </p:cNvPr>
          <p:cNvSpPr/>
          <p:nvPr/>
        </p:nvSpPr>
        <p:spPr>
          <a:xfrm>
            <a:off x="10155317" y="6115168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10 000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F5BE3E2-94C4-4948-09D5-64EE20F45044}"/>
              </a:ext>
            </a:extLst>
          </p:cNvPr>
          <p:cNvSpPr/>
          <p:nvPr/>
        </p:nvSpPr>
        <p:spPr>
          <a:xfrm>
            <a:off x="766285" y="6925510"/>
            <a:ext cx="13097829" cy="603055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42B048D-0CE7-31A5-B601-631D13FD510D}"/>
              </a:ext>
            </a:extLst>
          </p:cNvPr>
          <p:cNvSpPr/>
          <p:nvPr/>
        </p:nvSpPr>
        <p:spPr>
          <a:xfrm>
            <a:off x="983098" y="7057430"/>
            <a:ext cx="4801907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ИТОГО ИНВЕСТИЦИИ: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0B27B95-6D08-608A-E994-4677E848EB49}"/>
              </a:ext>
            </a:extLst>
          </p:cNvPr>
          <p:cNvSpPr/>
          <p:nvPr/>
        </p:nvSpPr>
        <p:spPr>
          <a:xfrm>
            <a:off x="6226012" y="7057430"/>
            <a:ext cx="3488289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F331A54-1706-CC3A-C0D2-1AAE24812AE4}"/>
              </a:ext>
            </a:extLst>
          </p:cNvPr>
          <p:cNvSpPr/>
          <p:nvPr/>
        </p:nvSpPr>
        <p:spPr>
          <a:xfrm>
            <a:off x="10155317" y="7057430"/>
            <a:ext cx="3492102" cy="3392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6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232 000</a:t>
            </a:r>
            <a:endParaRPr lang="en-US" sz="170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A9DCE3-A8C7-D76D-91A5-EF26B4C151E5}"/>
              </a:ext>
            </a:extLst>
          </p:cNvPr>
          <p:cNvSpPr/>
          <p:nvPr/>
        </p:nvSpPr>
        <p:spPr>
          <a:xfrm>
            <a:off x="793790" y="1265995"/>
            <a:ext cx="10139955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/>
                <a:ea typeface="Instrument Sans Semi Bold" pitchFamily="34"/>
                <a:cs typeface="Instrument Sans Semi Bold" pitchFamily="34"/>
              </a:rPr>
              <a:t>Кредит</a:t>
            </a:r>
            <a:endParaRPr lang="en-US" sz="4450" b="0" i="0" u="none" strike="noStrike" kern="1200" cap="none" spc="0" baseline="0">
              <a:uFillTx/>
              <a:latin typeface="Instrument Sans Semi Bol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2D8835-A725-9BB9-E872-57A98360D4A7}"/>
              </a:ext>
            </a:extLst>
          </p:cNvPr>
          <p:cNvSpPr/>
          <p:nvPr/>
        </p:nvSpPr>
        <p:spPr>
          <a:xfrm>
            <a:off x="793790" y="2428399"/>
            <a:ext cx="130428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Для закупки оборудования планируется привлечение займа.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9DF39E-AE2B-7396-22A6-5C464863E75A}"/>
              </a:ext>
            </a:extLst>
          </p:cNvPr>
          <p:cNvSpPr/>
          <p:nvPr/>
        </p:nvSpPr>
        <p:spPr>
          <a:xfrm>
            <a:off x="793790" y="3046451"/>
            <a:ext cx="13042818" cy="3917152"/>
          </a:xfrm>
          <a:custGeom>
            <a:avLst>
              <a:gd name="f0" fmla="val 52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6" cap="flat">
            <a:solidFill>
              <a:srgbClr val="FFFFFF">
                <a:alpha val="2400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E06B92-221F-AFE0-3E86-33E9EEF29521}"/>
              </a:ext>
            </a:extLst>
          </p:cNvPr>
          <p:cNvSpPr/>
          <p:nvPr/>
        </p:nvSpPr>
        <p:spPr>
          <a:xfrm>
            <a:off x="801407" y="3054068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3F4C3D-9C15-23C0-0E0A-327BDBC3F29E}"/>
              </a:ext>
            </a:extLst>
          </p:cNvPr>
          <p:cNvSpPr/>
          <p:nvPr/>
        </p:nvSpPr>
        <p:spPr>
          <a:xfrm>
            <a:off x="1028343" y="3197784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Параметр кредита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64BDB5-468F-FACE-E347-8FEAAC837E89}"/>
              </a:ext>
            </a:extLst>
          </p:cNvPr>
          <p:cNvSpPr/>
          <p:nvPr/>
        </p:nvSpPr>
        <p:spPr>
          <a:xfrm>
            <a:off x="6243157" y="3197784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Значение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D742948-9F0D-12D8-5B45-58C7BEC18342}"/>
              </a:ext>
            </a:extLst>
          </p:cNvPr>
          <p:cNvSpPr/>
          <p:nvPr/>
        </p:nvSpPr>
        <p:spPr>
          <a:xfrm>
            <a:off x="801407" y="3704389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23B6F4-DE35-67FE-752A-FCC7CCC7720B}"/>
              </a:ext>
            </a:extLst>
          </p:cNvPr>
          <p:cNvSpPr/>
          <p:nvPr/>
        </p:nvSpPr>
        <p:spPr>
          <a:xfrm>
            <a:off x="1028343" y="3848096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Сумма кредита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87EDB0-158F-FD20-2569-EEC1FD02C386}"/>
              </a:ext>
            </a:extLst>
          </p:cNvPr>
          <p:cNvSpPr/>
          <p:nvPr/>
        </p:nvSpPr>
        <p:spPr>
          <a:xfrm>
            <a:off x="6243157" y="3848096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400 000 рублей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C855A3D-DFEC-8FFF-BA2F-AE9F4463D362}"/>
              </a:ext>
            </a:extLst>
          </p:cNvPr>
          <p:cNvSpPr/>
          <p:nvPr/>
        </p:nvSpPr>
        <p:spPr>
          <a:xfrm>
            <a:off x="801407" y="4354711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8E2AE51-E21C-08B1-A9C6-A5475411A7BF}"/>
              </a:ext>
            </a:extLst>
          </p:cNvPr>
          <p:cNvSpPr/>
          <p:nvPr/>
        </p:nvSpPr>
        <p:spPr>
          <a:xfrm>
            <a:off x="1028343" y="4498418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Срок кредитования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8475018-153C-A3A1-15ED-C16627099A2F}"/>
              </a:ext>
            </a:extLst>
          </p:cNvPr>
          <p:cNvSpPr/>
          <p:nvPr/>
        </p:nvSpPr>
        <p:spPr>
          <a:xfrm>
            <a:off x="6243157" y="4498418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36 месяцев (3 года)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143CEC4-5653-0C57-3299-8716D6101F1D}"/>
              </a:ext>
            </a:extLst>
          </p:cNvPr>
          <p:cNvSpPr/>
          <p:nvPr/>
        </p:nvSpPr>
        <p:spPr>
          <a:xfrm>
            <a:off x="801407" y="5005032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D736FE-3F8B-8AE2-4BF9-E68FD00C402C}"/>
              </a:ext>
            </a:extLst>
          </p:cNvPr>
          <p:cNvSpPr/>
          <p:nvPr/>
        </p:nvSpPr>
        <p:spPr>
          <a:xfrm>
            <a:off x="1028343" y="5148739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Процентная ставка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B2C817-E103-CC04-53FC-4F9D95620625}"/>
              </a:ext>
            </a:extLst>
          </p:cNvPr>
          <p:cNvSpPr/>
          <p:nvPr/>
        </p:nvSpPr>
        <p:spPr>
          <a:xfrm>
            <a:off x="6243157" y="5148739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12% годовых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13023F-247C-8022-B6D1-0171C803B280}"/>
              </a:ext>
            </a:extLst>
          </p:cNvPr>
          <p:cNvSpPr/>
          <p:nvPr/>
        </p:nvSpPr>
        <p:spPr>
          <a:xfrm>
            <a:off x="801407" y="5655353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D729DF-E351-88C3-A5C4-5846B6AF2D07}"/>
              </a:ext>
            </a:extLst>
          </p:cNvPr>
          <p:cNvSpPr/>
          <p:nvPr/>
        </p:nvSpPr>
        <p:spPr>
          <a:xfrm>
            <a:off x="1028343" y="5799060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Ежемесячный платеж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2A4A554-6283-2603-A5F0-1C8E824AFC25}"/>
              </a:ext>
            </a:extLst>
          </p:cNvPr>
          <p:cNvSpPr/>
          <p:nvPr/>
        </p:nvSpPr>
        <p:spPr>
          <a:xfrm>
            <a:off x="6243157" y="5799060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13 300 рублей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025D429-B636-CD93-7A0D-71A04E199460}"/>
              </a:ext>
            </a:extLst>
          </p:cNvPr>
          <p:cNvSpPr/>
          <p:nvPr/>
        </p:nvSpPr>
        <p:spPr>
          <a:xfrm>
            <a:off x="801407" y="6305665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32180C4-3CB5-108A-049C-1074C49E23D8}"/>
              </a:ext>
            </a:extLst>
          </p:cNvPr>
          <p:cNvSpPr/>
          <p:nvPr/>
        </p:nvSpPr>
        <p:spPr>
          <a:xfrm>
            <a:off x="1028343" y="6449382"/>
            <a:ext cx="4753572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Обеспечение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247C35-C69D-23F3-AC65-670EF591A078}"/>
              </a:ext>
            </a:extLst>
          </p:cNvPr>
          <p:cNvSpPr/>
          <p:nvPr/>
        </p:nvSpPr>
        <p:spPr>
          <a:xfrm>
            <a:off x="6243157" y="6449382"/>
            <a:ext cx="73590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Оборудование в залоге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A5D28E-ED53-8CE7-6F5B-C03B87FE72BD}"/>
              </a:ext>
            </a:extLst>
          </p:cNvPr>
          <p:cNvSpPr/>
          <p:nvPr/>
        </p:nvSpPr>
        <p:spPr>
          <a:xfrm>
            <a:off x="793790" y="1265995"/>
            <a:ext cx="5831320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Штатное расписание</a:t>
            </a:r>
            <a:endParaRPr lang="en-US" sz="44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616DF8-9296-3393-5688-FE7917500915}"/>
              </a:ext>
            </a:extLst>
          </p:cNvPr>
          <p:cNvSpPr/>
          <p:nvPr/>
        </p:nvSpPr>
        <p:spPr>
          <a:xfrm>
            <a:off x="793790" y="2428399"/>
            <a:ext cx="13042818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Коллектив предприятия 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707F99-03D8-0ADE-0606-5BD1A2C02A94}"/>
              </a:ext>
            </a:extLst>
          </p:cNvPr>
          <p:cNvSpPr/>
          <p:nvPr/>
        </p:nvSpPr>
        <p:spPr>
          <a:xfrm>
            <a:off x="793790" y="3046451"/>
            <a:ext cx="13042818" cy="3917152"/>
          </a:xfrm>
          <a:custGeom>
            <a:avLst>
              <a:gd name="f0" fmla="val 52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6" cap="flat">
            <a:solidFill>
              <a:srgbClr val="FFFFFF">
                <a:alpha val="2400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9C948E-D328-94C5-7006-9ECE6C142F55}"/>
              </a:ext>
            </a:extLst>
          </p:cNvPr>
          <p:cNvSpPr/>
          <p:nvPr/>
        </p:nvSpPr>
        <p:spPr>
          <a:xfrm>
            <a:off x="801407" y="3054068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FF32C9-78BA-0559-5BC8-096BCA01681B}"/>
              </a:ext>
            </a:extLst>
          </p:cNvPr>
          <p:cNvSpPr/>
          <p:nvPr/>
        </p:nvSpPr>
        <p:spPr>
          <a:xfrm>
            <a:off x="1028462" y="3197784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Должность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EA3103-831D-0D79-E250-0FC15CEBA093}"/>
              </a:ext>
            </a:extLst>
          </p:cNvPr>
          <p:cNvSpPr/>
          <p:nvPr/>
        </p:nvSpPr>
        <p:spPr>
          <a:xfrm>
            <a:off x="4940494" y="3197784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Кол-во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34AFFB-2625-DFF1-1F05-16E56A8BB009}"/>
              </a:ext>
            </a:extLst>
          </p:cNvPr>
          <p:cNvSpPr/>
          <p:nvPr/>
        </p:nvSpPr>
        <p:spPr>
          <a:xfrm>
            <a:off x="6894548" y="3197784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Оклад 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BC1CFA-DF39-7D5A-183F-846C44FD4B06}"/>
              </a:ext>
            </a:extLst>
          </p:cNvPr>
          <p:cNvSpPr/>
          <p:nvPr/>
        </p:nvSpPr>
        <p:spPr>
          <a:xfrm>
            <a:off x="10151385" y="3197784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Итого (руб/мес)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2838C25-3A6F-D25E-4D15-3CDA4D0B3185}"/>
              </a:ext>
            </a:extLst>
          </p:cNvPr>
          <p:cNvSpPr/>
          <p:nvPr/>
        </p:nvSpPr>
        <p:spPr>
          <a:xfrm>
            <a:off x="801407" y="3704389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832415-A3DE-0B81-104F-91770E957833}"/>
              </a:ext>
            </a:extLst>
          </p:cNvPr>
          <p:cNvSpPr/>
          <p:nvPr/>
        </p:nvSpPr>
        <p:spPr>
          <a:xfrm>
            <a:off x="1028462" y="3848096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Генеральный директор (вы)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7E902C5-229B-BFC6-0B6A-DFB6B069C777}"/>
              </a:ext>
            </a:extLst>
          </p:cNvPr>
          <p:cNvSpPr/>
          <p:nvPr/>
        </p:nvSpPr>
        <p:spPr>
          <a:xfrm>
            <a:off x="4940494" y="3848096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7CA7FD-46B5-A4FC-2EEF-D6D7DDB09FFA}"/>
              </a:ext>
            </a:extLst>
          </p:cNvPr>
          <p:cNvSpPr/>
          <p:nvPr/>
        </p:nvSpPr>
        <p:spPr>
          <a:xfrm>
            <a:off x="6894548" y="3848096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60 000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857B29-42AA-8B08-86DE-D8BF1AF56339}"/>
              </a:ext>
            </a:extLst>
          </p:cNvPr>
          <p:cNvSpPr/>
          <p:nvPr/>
        </p:nvSpPr>
        <p:spPr>
          <a:xfrm>
            <a:off x="10151385" y="3848096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60 000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8AE2B34-351A-3487-B56E-0C6430DC2769}"/>
              </a:ext>
            </a:extLst>
          </p:cNvPr>
          <p:cNvSpPr/>
          <p:nvPr/>
        </p:nvSpPr>
        <p:spPr>
          <a:xfrm>
            <a:off x="801407" y="4354711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39CF3D-30C3-F13A-80E2-976D1A93A04F}"/>
              </a:ext>
            </a:extLst>
          </p:cNvPr>
          <p:cNvSpPr/>
          <p:nvPr/>
        </p:nvSpPr>
        <p:spPr>
          <a:xfrm>
            <a:off x="1028462" y="4498418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Инженер-связист (сварщик)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F107CB5-86B8-B507-26B2-61FB712C9FE0}"/>
              </a:ext>
            </a:extLst>
          </p:cNvPr>
          <p:cNvSpPr/>
          <p:nvPr/>
        </p:nvSpPr>
        <p:spPr>
          <a:xfrm>
            <a:off x="4940494" y="4498418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AE777D-FFE3-3E1D-E381-987B39E13E72}"/>
              </a:ext>
            </a:extLst>
          </p:cNvPr>
          <p:cNvSpPr/>
          <p:nvPr/>
        </p:nvSpPr>
        <p:spPr>
          <a:xfrm>
            <a:off x="6894548" y="4498418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55 000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480974B-D5D4-77A5-276C-CC2E65A642ED}"/>
              </a:ext>
            </a:extLst>
          </p:cNvPr>
          <p:cNvSpPr/>
          <p:nvPr/>
        </p:nvSpPr>
        <p:spPr>
          <a:xfrm>
            <a:off x="10151385" y="4498418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55 000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BCDB3E4-34AB-4AA0-9C16-1C14BACBE7DA}"/>
              </a:ext>
            </a:extLst>
          </p:cNvPr>
          <p:cNvSpPr/>
          <p:nvPr/>
        </p:nvSpPr>
        <p:spPr>
          <a:xfrm>
            <a:off x="801407" y="5005032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7CAA3A2-9BBB-4DF4-80CC-0BB0550419D8}"/>
              </a:ext>
            </a:extLst>
          </p:cNvPr>
          <p:cNvSpPr/>
          <p:nvPr/>
        </p:nvSpPr>
        <p:spPr>
          <a:xfrm>
            <a:off x="1028462" y="5148739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Монтажник связи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2C7C51E-91CC-65DC-9A94-4F95F9113E10}"/>
              </a:ext>
            </a:extLst>
          </p:cNvPr>
          <p:cNvSpPr/>
          <p:nvPr/>
        </p:nvSpPr>
        <p:spPr>
          <a:xfrm>
            <a:off x="4940494" y="5148739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858D09A-586C-F393-4627-F3CF878EAF97}"/>
              </a:ext>
            </a:extLst>
          </p:cNvPr>
          <p:cNvSpPr/>
          <p:nvPr/>
        </p:nvSpPr>
        <p:spPr>
          <a:xfrm>
            <a:off x="6894548" y="5148739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45 000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60D379A-A21D-22D5-518B-E94B8C1141C5}"/>
              </a:ext>
            </a:extLst>
          </p:cNvPr>
          <p:cNvSpPr/>
          <p:nvPr/>
        </p:nvSpPr>
        <p:spPr>
          <a:xfrm>
            <a:off x="10151385" y="5148739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90 000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B249FAC-C5A5-3016-A1FF-30916CC9EE49}"/>
              </a:ext>
            </a:extLst>
          </p:cNvPr>
          <p:cNvSpPr/>
          <p:nvPr/>
        </p:nvSpPr>
        <p:spPr>
          <a:xfrm>
            <a:off x="801407" y="5655353"/>
            <a:ext cx="13027584" cy="650321"/>
          </a:xfrm>
          <a:prstGeom prst="rect">
            <a:avLst/>
          </a:prstGeom>
          <a:solidFill>
            <a:srgbClr val="FFFFFF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025FD5E-FD6B-210B-2E91-23477ACF2B2C}"/>
              </a:ext>
            </a:extLst>
          </p:cNvPr>
          <p:cNvSpPr/>
          <p:nvPr/>
        </p:nvSpPr>
        <p:spPr>
          <a:xfrm>
            <a:off x="1028462" y="5799060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Бухгалтер (аутсорс)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C952BDD-8DF7-1858-83C0-CDF3379C20E4}"/>
              </a:ext>
            </a:extLst>
          </p:cNvPr>
          <p:cNvSpPr/>
          <p:nvPr/>
        </p:nvSpPr>
        <p:spPr>
          <a:xfrm>
            <a:off x="4940494" y="5799060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0B534A3-4924-1341-BF68-0B1EA71F75E6}"/>
              </a:ext>
            </a:extLst>
          </p:cNvPr>
          <p:cNvSpPr/>
          <p:nvPr/>
        </p:nvSpPr>
        <p:spPr>
          <a:xfrm>
            <a:off x="6894548" y="5799060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10 000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4156D5F-6CCC-E928-2261-F69CBF375224}"/>
              </a:ext>
            </a:extLst>
          </p:cNvPr>
          <p:cNvSpPr/>
          <p:nvPr/>
        </p:nvSpPr>
        <p:spPr>
          <a:xfrm>
            <a:off x="10151385" y="5799060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10 000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31DF5AF-0837-0ABD-E52A-DFBD1E2CF6C4}"/>
              </a:ext>
            </a:extLst>
          </p:cNvPr>
          <p:cNvSpPr/>
          <p:nvPr/>
        </p:nvSpPr>
        <p:spPr>
          <a:xfrm>
            <a:off x="801407" y="6305665"/>
            <a:ext cx="13027584" cy="650321"/>
          </a:xfrm>
          <a:prstGeom prst="rect">
            <a:avLst/>
          </a:prstGeom>
          <a:solidFill>
            <a:srgbClr val="000000">
              <a:alpha val="4000"/>
            </a:srgbClr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5BA6287-ED19-434D-884A-6DE2207A4797}"/>
              </a:ext>
            </a:extLst>
          </p:cNvPr>
          <p:cNvSpPr/>
          <p:nvPr/>
        </p:nvSpPr>
        <p:spPr>
          <a:xfrm>
            <a:off x="1028462" y="6449382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ИТОГО (ФОТ):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1DEDD79-7DEF-F202-5281-1656A6202322}"/>
              </a:ext>
            </a:extLst>
          </p:cNvPr>
          <p:cNvSpPr/>
          <p:nvPr/>
        </p:nvSpPr>
        <p:spPr>
          <a:xfrm>
            <a:off x="4940494" y="6449382"/>
            <a:ext cx="1492803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5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D0A5B80-C1A0-7F10-4C5B-622DFA2AA970}"/>
              </a:ext>
            </a:extLst>
          </p:cNvPr>
          <p:cNvSpPr/>
          <p:nvPr/>
        </p:nvSpPr>
        <p:spPr>
          <a:xfrm>
            <a:off x="6894548" y="6449382"/>
            <a:ext cx="279558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683BA69-DA10-73EF-963C-2C49EB88D9E4}"/>
              </a:ext>
            </a:extLst>
          </p:cNvPr>
          <p:cNvSpPr/>
          <p:nvPr/>
        </p:nvSpPr>
        <p:spPr>
          <a:xfrm>
            <a:off x="10151385" y="6449382"/>
            <a:ext cx="3450790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1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215 000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26CA41-C875-BCD4-F64B-6D833FEB6875}"/>
              </a:ext>
            </a:extLst>
          </p:cNvPr>
          <p:cNvSpPr/>
          <p:nvPr/>
        </p:nvSpPr>
        <p:spPr>
          <a:xfrm>
            <a:off x="793790" y="1689381"/>
            <a:ext cx="6215542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 dirty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SWOT-</a:t>
            </a:r>
            <a:r>
              <a:rPr lang="en-US" sz="4450" b="0" i="0" u="none" strike="noStrike" kern="1200" cap="none" spc="0" baseline="0" dirty="0" err="1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анализ</a:t>
            </a:r>
            <a:r>
              <a:rPr lang="en-US" sz="4450" b="0" i="0" u="none" strike="noStrike" kern="1200" cap="none" spc="0" baseline="0" dirty="0">
                <a:solidFill>
                  <a:srgbClr val="CBCCCE"/>
                </a:solidFill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 </a:t>
            </a:r>
            <a:r>
              <a:rPr lang="en-US" sz="4450" b="0" i="0" u="none" strike="noStrike" kern="1200" cap="none" spc="0" baseline="0" dirty="0" err="1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проекта</a:t>
            </a:r>
            <a:endParaRPr lang="en-US" sz="4450" b="0" i="0" u="none" strike="noStrike" kern="1200" cap="none" spc="0" baseline="0" dirty="0">
              <a:uFillTx/>
              <a:latin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8DFC54-8215-04A0-7E2E-AA16C27FC9B2}"/>
              </a:ext>
            </a:extLst>
          </p:cNvPr>
          <p:cNvSpPr/>
          <p:nvPr/>
        </p:nvSpPr>
        <p:spPr>
          <a:xfrm>
            <a:off x="793790" y="2851785"/>
            <a:ext cx="6407941" cy="1730812"/>
          </a:xfrm>
          <a:custGeom>
            <a:avLst>
              <a:gd name="f0" fmla="val 182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A2A2D">
              <a:alpha val="95000"/>
            </a:srgbClr>
          </a:solidFill>
          <a:ln w="30476" cap="flat">
            <a:solidFill>
              <a:srgbClr val="56565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BDD07A-9B27-AA6F-7B6F-0FD975E68FE9}"/>
              </a:ext>
            </a:extLst>
          </p:cNvPr>
          <p:cNvSpPr/>
          <p:nvPr/>
        </p:nvSpPr>
        <p:spPr>
          <a:xfrm>
            <a:off x="1142524" y="3109078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A2B9F9"/>
                </a:solidFill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Сильные стороны:</a:t>
            </a:r>
            <a:endParaRPr lang="en-US" sz="22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6302B5-57D4-1857-CF4F-2B85B2A8A4DB}"/>
              </a:ext>
            </a:extLst>
          </p:cNvPr>
          <p:cNvSpPr/>
          <p:nvPr/>
        </p:nvSpPr>
        <p:spPr>
          <a:xfrm>
            <a:off x="1142524" y="3599499"/>
            <a:ext cx="5801913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solidFill>
                  <a:srgbClr val="CFD0D8"/>
                </a:solidFill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Профильное образование выпускников ЛКС и ИТ, мобильность.</a:t>
            </a:r>
            <a:endParaRPr lang="en-US" sz="17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8B35B5D-9F94-CA23-A1FD-7B5B7B977D29}"/>
              </a:ext>
            </a:extLst>
          </p:cNvPr>
          <p:cNvSpPr/>
          <p:nvPr/>
        </p:nvSpPr>
        <p:spPr>
          <a:xfrm>
            <a:off x="7428549" y="2851785"/>
            <a:ext cx="6408060" cy="1730812"/>
          </a:xfrm>
          <a:custGeom>
            <a:avLst>
              <a:gd name="f0" fmla="val 182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A2A2D">
              <a:alpha val="95000"/>
            </a:srgbClr>
          </a:solidFill>
          <a:ln w="30476" cap="flat">
            <a:solidFill>
              <a:srgbClr val="56565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0E2F52-8148-F23F-CA05-737DFEAC0BD9}"/>
              </a:ext>
            </a:extLst>
          </p:cNvPr>
          <p:cNvSpPr/>
          <p:nvPr/>
        </p:nvSpPr>
        <p:spPr>
          <a:xfrm>
            <a:off x="7777282" y="3109078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FCA9C7"/>
                </a:solidFill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Слабые стороны:</a:t>
            </a:r>
            <a:endParaRPr lang="en-US" sz="22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BC6FD8-5658-6BA2-82C2-346698CF837B}"/>
              </a:ext>
            </a:extLst>
          </p:cNvPr>
          <p:cNvSpPr/>
          <p:nvPr/>
        </p:nvSpPr>
        <p:spPr>
          <a:xfrm>
            <a:off x="7777282" y="3599499"/>
            <a:ext cx="5802032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solidFill>
                  <a:srgbClr val="CFD0D8"/>
                </a:solidFill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Высокая зависимость от стоимости расходных материалов.</a:t>
            </a:r>
            <a:endParaRPr lang="en-US" sz="17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883F178-FF76-0A58-51F4-3C10797B8C74}"/>
              </a:ext>
            </a:extLst>
          </p:cNvPr>
          <p:cNvSpPr/>
          <p:nvPr/>
        </p:nvSpPr>
        <p:spPr>
          <a:xfrm>
            <a:off x="793790" y="4809414"/>
            <a:ext cx="6407941" cy="1730812"/>
          </a:xfrm>
          <a:custGeom>
            <a:avLst>
              <a:gd name="f0" fmla="val 182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A2A2D">
              <a:alpha val="95000"/>
            </a:srgbClr>
          </a:solidFill>
          <a:ln w="30476" cap="flat">
            <a:solidFill>
              <a:srgbClr val="56565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23C1100-CEA0-769E-CF54-8D3A2394770A}"/>
              </a:ext>
            </a:extLst>
          </p:cNvPr>
          <p:cNvSpPr/>
          <p:nvPr/>
        </p:nvSpPr>
        <p:spPr>
          <a:xfrm>
            <a:off x="1142524" y="5066708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124DF0"/>
                </a:solidFill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Возможности:</a:t>
            </a:r>
            <a:endParaRPr lang="en-US" sz="22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34AA-B054-029C-07ED-71654E763938}"/>
              </a:ext>
            </a:extLst>
          </p:cNvPr>
          <p:cNvSpPr/>
          <p:nvPr/>
        </p:nvSpPr>
        <p:spPr>
          <a:xfrm>
            <a:off x="1142524" y="5557119"/>
            <a:ext cx="5801913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solidFill>
                  <a:srgbClr val="CFD0D8"/>
                </a:solidFill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Получение госконтрактов на обслуживание школ и МФЦ.</a:t>
            </a:r>
            <a:endParaRPr lang="en-US" sz="17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E94CC3-2A85-5A84-42B5-7E3BCD587456}"/>
              </a:ext>
            </a:extLst>
          </p:cNvPr>
          <p:cNvSpPr/>
          <p:nvPr/>
        </p:nvSpPr>
        <p:spPr>
          <a:xfrm>
            <a:off x="7428549" y="4809414"/>
            <a:ext cx="6408060" cy="1730812"/>
          </a:xfrm>
          <a:custGeom>
            <a:avLst>
              <a:gd name="f0" fmla="val 182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A2A2D">
              <a:alpha val="95000"/>
            </a:srgbClr>
          </a:solidFill>
          <a:ln w="30476" cap="flat">
            <a:solidFill>
              <a:srgbClr val="56565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C5C0E2-F80F-1D6A-D886-83F257DC8655}"/>
              </a:ext>
            </a:extLst>
          </p:cNvPr>
          <p:cNvSpPr/>
          <p:nvPr/>
        </p:nvSpPr>
        <p:spPr>
          <a:xfrm>
            <a:off x="7777282" y="5066708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406FF4"/>
                </a:solidFill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Угрозы:</a:t>
            </a:r>
            <a:endParaRPr lang="en-US" sz="22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C1C2E60-14BE-643C-CC68-47F970202A9F}"/>
              </a:ext>
            </a:extLst>
          </p:cNvPr>
          <p:cNvSpPr/>
          <p:nvPr/>
        </p:nvSpPr>
        <p:spPr>
          <a:xfrm>
            <a:off x="7777282" y="5557119"/>
            <a:ext cx="5802032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solidFill>
                  <a:srgbClr val="CFD0D8"/>
                </a:solidFill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Суровые климатические условия РС(Я) (актированные дни).</a:t>
            </a:r>
            <a:endParaRPr lang="en-US" sz="175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C93AF0A-F88F-E49A-D744-AC8BBFC3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4626742" cy="8229600"/>
          </a:xfrm>
          <a:prstGeom prst="rect">
            <a:avLst/>
          </a:prstGeom>
          <a:solidFill>
            <a:srgbClr val="4472C4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7FE542-B976-40BE-F4DA-9F1D0B39E7DF}"/>
              </a:ext>
            </a:extLst>
          </p:cNvPr>
          <p:cNvSpPr/>
          <p:nvPr/>
        </p:nvSpPr>
        <p:spPr>
          <a:xfrm>
            <a:off x="768096" y="390439"/>
            <a:ext cx="5242319" cy="234820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000" b="0" i="0" u="none" strike="noStrike" kern="1200" cap="none" spc="0" baseline="0">
                <a:uFillTx/>
                <a:latin typeface="Calibri Light"/>
              </a:rPr>
              <a:t>Охрана труда и Техника безопасности</a:t>
            </a:r>
          </a:p>
        </p:txBody>
      </p:sp>
      <p:sp>
        <p:nvSpPr>
          <p:cNvPr id="4" name="sketchy line">
            <a:extLst>
              <a:ext uri="{FF2B5EF4-FFF2-40B4-BE49-F238E27FC236}">
                <a16:creationId xmlns:a16="http://schemas.microsoft.com/office/drawing/2014/main" id="{FEA0D9F3-9F0E-64D8-C7BC-35BF1D062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768096" y="3104387"/>
            <a:ext cx="4169663" cy="21945"/>
          </a:xfrm>
          <a:prstGeom prst="rect">
            <a:avLst/>
          </a:prstGeom>
          <a:solidFill>
            <a:srgbClr val="ED7D31"/>
          </a:solidFill>
          <a:ln w="44448" cap="rnd">
            <a:solidFill>
              <a:srgbClr val="ED7D31"/>
            </a:solidFill>
            <a:prstDash val="solid"/>
            <a:round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9488F5-1E39-A3FD-6A52-CA3E5C9BC177}"/>
              </a:ext>
            </a:extLst>
          </p:cNvPr>
          <p:cNvSpPr/>
          <p:nvPr/>
        </p:nvSpPr>
        <p:spPr>
          <a:xfrm>
            <a:off x="768096" y="3447480"/>
            <a:ext cx="5092302" cy="39847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34290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uFillTx/>
                <a:latin typeface="Calibri"/>
              </a:rPr>
              <a:t>Работа с лазером:</a:t>
            </a:r>
            <a:r>
              <a:rPr lang="en-US" sz="2400" b="0" i="0" u="none" strike="noStrike" kern="1200" cap="none" spc="0" baseline="0">
                <a:uFillTx/>
                <a:latin typeface="Calibri"/>
              </a:rPr>
              <a:t> Использование защитных очков при работе с активным волокном.</a:t>
            </a:r>
          </a:p>
          <a:p>
            <a:pPr marL="34290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uFillTx/>
                <a:latin typeface="Calibri"/>
              </a:rPr>
              <a:t>Высотные работы:</a:t>
            </a:r>
            <a:r>
              <a:rPr lang="en-US" sz="2400" b="0" i="0" u="none" strike="noStrike" kern="1200" cap="none" spc="0" baseline="0">
                <a:uFillTx/>
                <a:latin typeface="Calibri"/>
              </a:rPr>
              <a:t> Использование страховочных привязей и касок.</a:t>
            </a:r>
          </a:p>
          <a:p>
            <a:pPr marL="34290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uFillTx/>
                <a:latin typeface="Calibri"/>
              </a:rPr>
              <a:t>Электробезопасность:</a:t>
            </a:r>
            <a:r>
              <a:rPr lang="en-US" sz="2400" b="0" i="0" u="none" strike="noStrike" kern="1200" cap="none" spc="0" baseline="0">
                <a:uFillTx/>
                <a:latin typeface="Calibri"/>
              </a:rPr>
              <a:t> Проверка наличия напряжения на опорах освещения/ЛЭП.</a:t>
            </a:r>
          </a:p>
          <a:p>
            <a:pPr marL="34290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uFillTx/>
                <a:latin typeface="Calibri"/>
              </a:rPr>
              <a:t>Климат:</a:t>
            </a:r>
            <a:r>
              <a:rPr lang="en-US" sz="2400" b="0" i="0" u="none" strike="noStrike" kern="1200" cap="none" spc="0" baseline="0">
                <a:uFillTx/>
                <a:latin typeface="Calibri"/>
              </a:rPr>
              <a:t> Соблюдение режима труда и отдыха при низких температурах.</a:t>
            </a:r>
          </a:p>
        </p:txBody>
      </p:sp>
      <p:pic>
        <p:nvPicPr>
          <p:cNvPr id="6" name="Рисунок 6" descr="Человек, держащий это лицо">
            <a:extLst>
              <a:ext uri="{FF2B5EF4-FFF2-40B4-BE49-F238E27FC236}">
                <a16:creationId xmlns:a16="http://schemas.microsoft.com/office/drawing/2014/main" id="{7F0CBF31-7613-4A6E-30ED-76C3BE80F2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51" r="17251"/>
          <a:stretch/>
        </p:blipFill>
        <p:spPr>
          <a:xfrm>
            <a:off x="6181345" y="9"/>
            <a:ext cx="8532566" cy="8229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C85377-4BE0-E8BA-4459-47AD4B3D271E}"/>
              </a:ext>
            </a:extLst>
          </p:cNvPr>
          <p:cNvSpPr/>
          <p:nvPr/>
        </p:nvSpPr>
        <p:spPr>
          <a:xfrm>
            <a:off x="793790" y="2352915"/>
            <a:ext cx="8660959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Экономическая эффективность</a:t>
            </a:r>
            <a:endParaRPr lang="en-US" sz="44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F579B6-3237-CDC0-7880-9F97122C3FD2}"/>
              </a:ext>
            </a:extLst>
          </p:cNvPr>
          <p:cNvSpPr/>
          <p:nvPr/>
        </p:nvSpPr>
        <p:spPr>
          <a:xfrm>
            <a:off x="793790" y="3628668"/>
            <a:ext cx="3047996" cy="7484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8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420 000</a:t>
            </a:r>
            <a:endParaRPr lang="en-US" sz="58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E0F015-A2E7-CFEA-C64D-6653FBAE110D}"/>
              </a:ext>
            </a:extLst>
          </p:cNvPr>
          <p:cNvSpPr/>
          <p:nvPr/>
        </p:nvSpPr>
        <p:spPr>
          <a:xfrm>
            <a:off x="900117" y="4660459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Прогноз выручки</a:t>
            </a:r>
            <a:endParaRPr lang="en-US" sz="22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F55A1F-6186-4AD3-E4F4-26796A52D50A}"/>
              </a:ext>
            </a:extLst>
          </p:cNvPr>
          <p:cNvSpPr/>
          <p:nvPr/>
        </p:nvSpPr>
        <p:spPr>
          <a:xfrm>
            <a:off x="793790" y="5150879"/>
            <a:ext cx="3047996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руб./мес.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210AAD-805A-41B1-B854-115CFCD6FB4F}"/>
              </a:ext>
            </a:extLst>
          </p:cNvPr>
          <p:cNvSpPr/>
          <p:nvPr/>
        </p:nvSpPr>
        <p:spPr>
          <a:xfrm>
            <a:off x="4125279" y="3628668"/>
            <a:ext cx="3048115" cy="7484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8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285 000</a:t>
            </a:r>
            <a:endParaRPr lang="en-US" sz="58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8789F9-37B1-22A1-3FFE-3B10FCEFE43C}"/>
              </a:ext>
            </a:extLst>
          </p:cNvPr>
          <p:cNvSpPr/>
          <p:nvPr/>
        </p:nvSpPr>
        <p:spPr>
          <a:xfrm>
            <a:off x="4184687" y="4660459"/>
            <a:ext cx="2929298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Постоянные расходы</a:t>
            </a:r>
            <a:endParaRPr lang="en-US" sz="22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FB27FB-03B5-7A6C-EDAA-F98008B73F59}"/>
              </a:ext>
            </a:extLst>
          </p:cNvPr>
          <p:cNvSpPr/>
          <p:nvPr/>
        </p:nvSpPr>
        <p:spPr>
          <a:xfrm>
            <a:off x="4125279" y="5150879"/>
            <a:ext cx="3048115" cy="7258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(ЗП + Кредит + Налоги) руб./мес.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9BD450-D878-FB3D-3D97-FC07EBC45E4C}"/>
              </a:ext>
            </a:extLst>
          </p:cNvPr>
          <p:cNvSpPr/>
          <p:nvPr/>
        </p:nvSpPr>
        <p:spPr>
          <a:xfrm>
            <a:off x="7456886" y="3628668"/>
            <a:ext cx="3048115" cy="7484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8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135 000</a:t>
            </a:r>
            <a:endParaRPr lang="en-US" sz="58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6A2ADB7-77E7-6657-9A14-F7DB3E6D6E08}"/>
              </a:ext>
            </a:extLst>
          </p:cNvPr>
          <p:cNvSpPr/>
          <p:nvPr/>
        </p:nvSpPr>
        <p:spPr>
          <a:xfrm>
            <a:off x="7563322" y="4660459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Чистая прибыль</a:t>
            </a:r>
            <a:endParaRPr lang="en-US" sz="22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6B410D8-9510-E412-B450-DD18102968DF}"/>
              </a:ext>
            </a:extLst>
          </p:cNvPr>
          <p:cNvSpPr/>
          <p:nvPr/>
        </p:nvSpPr>
        <p:spPr>
          <a:xfrm>
            <a:off x="7456886" y="5150879"/>
            <a:ext cx="304811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руб./мес.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2B4F0B-D336-1BF6-C612-FD4D93D08BDA}"/>
              </a:ext>
            </a:extLst>
          </p:cNvPr>
          <p:cNvSpPr/>
          <p:nvPr/>
        </p:nvSpPr>
        <p:spPr>
          <a:xfrm>
            <a:off x="10788493" y="3628668"/>
            <a:ext cx="3048115" cy="7484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8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8</a:t>
            </a:r>
            <a:endParaRPr lang="en-US" sz="58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F43AA4-01E6-F876-A51D-72E477EC9FEF}"/>
              </a:ext>
            </a:extLst>
          </p:cNvPr>
          <p:cNvSpPr/>
          <p:nvPr/>
        </p:nvSpPr>
        <p:spPr>
          <a:xfrm>
            <a:off x="10894929" y="4660459"/>
            <a:ext cx="2835234" cy="35433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Срок окупаемости</a:t>
            </a:r>
            <a:endParaRPr lang="en-US" sz="22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5408CB-3E6C-26A2-6156-5E454E215AEA}"/>
              </a:ext>
            </a:extLst>
          </p:cNvPr>
          <p:cNvSpPr/>
          <p:nvPr/>
        </p:nvSpPr>
        <p:spPr>
          <a:xfrm>
            <a:off x="10788493" y="5150879"/>
            <a:ext cx="3048115" cy="3629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 pitchFamily="34"/>
                <a:ea typeface="Instrument Sans Medium" pitchFamily="34"/>
                <a:cs typeface="Instrument Sans Medium" pitchFamily="34"/>
              </a:rPr>
              <a:t>месяцев</a:t>
            </a:r>
            <a:endParaRPr lang="en-US" sz="1750" b="0" i="0" u="none" strike="noStrike" kern="1200" cap="none" spc="0" baseline="0"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Наружу здания с Windows">
            <a:extLst>
              <a:ext uri="{FF2B5EF4-FFF2-40B4-BE49-F238E27FC236}">
                <a16:creationId xmlns:a16="http://schemas.microsoft.com/office/drawing/2014/main" id="{B5F9DA64-8D68-A32E-AB6C-77F67FE14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5632" y="0"/>
            <a:ext cx="6144768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50D91BA-933A-487F-9B18-9007A19AF38F}"/>
              </a:ext>
            </a:extLst>
          </p:cNvPr>
          <p:cNvSpPr/>
          <p:nvPr/>
        </p:nvSpPr>
        <p:spPr>
          <a:xfrm>
            <a:off x="793790" y="2864522"/>
            <a:ext cx="5670587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50" b="0" i="0" u="none" strike="noStrike" kern="1200" cap="none" spc="0" baseline="0">
                <a:uFillTx/>
                <a:latin typeface="Instrument Sans Semi Bold" pitchFamily="34"/>
                <a:ea typeface="Instrument Sans Semi Bold" pitchFamily="34"/>
                <a:cs typeface="Instrument Sans Semi Bold" pitchFamily="34"/>
              </a:rPr>
              <a:t>Заключение</a:t>
            </a:r>
            <a:endParaRPr lang="en-US" sz="445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3F27A9-294C-ECD0-C499-54FE669E8E1E}"/>
              </a:ext>
            </a:extLst>
          </p:cNvPr>
          <p:cNvSpPr/>
          <p:nvPr/>
        </p:nvSpPr>
        <p:spPr>
          <a:xfrm>
            <a:off x="793790" y="3913467"/>
            <a:ext cx="7556418" cy="145161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50" b="0" i="0" u="none" strike="noStrike" kern="1200" cap="none" spc="0" baseline="0">
                <a:uFillTx/>
                <a:latin typeface="Instrument Sans Medium"/>
                <a:ea typeface="Instrument Sans Medium" pitchFamily="34"/>
                <a:cs typeface="Instrument Sans Medium" pitchFamily="34"/>
              </a:rPr>
              <a:t>Бизнес-проект НКС-СпецСервис является технически обоснованным и востребованным. Наличие современного измерительного оборудования позволит нам занять нишу качественного сервиса в сфере телекоммуникаций.</a:t>
            </a:r>
            <a:endParaRPr lang="en-US" sz="1750" b="0" i="0" u="none" strike="noStrike" kern="1200" cap="none" spc="0" baseline="0">
              <a:uFillTx/>
              <a:latin typeface="Instrument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594</Words>
  <Application>Microsoft Office PowerPoint</Application>
  <PresentationFormat>Произвольный</PresentationFormat>
  <Paragraphs>139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Instrument Sans Medium</vt:lpstr>
      <vt:lpstr>Instrument Sans Semi Bold</vt:lpstr>
      <vt:lpstr>Ретро</vt:lpstr>
      <vt:lpstr>Презентация PowerPoint</vt:lpstr>
      <vt:lpstr>Содержание</vt:lpstr>
      <vt:lpstr>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batrak</dc:creator>
  <cp:lastModifiedBy>batrak</cp:lastModifiedBy>
  <cp:revision>117</cp:revision>
  <dcterms:created xsi:type="dcterms:W3CDTF">2026-02-17T03:35:27Z</dcterms:created>
  <dcterms:modified xsi:type="dcterms:W3CDTF">2026-02-18T04:04:27Z</dcterms:modified>
</cp:coreProperties>
</file>